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005ebcf364f0c" /><Relationship Type="http://schemas.openxmlformats.org/officeDocument/2006/relationships/extended-properties" Target="/docProps/app.xml" Id="Rf417b17cc4574890" /><Relationship Type="http://schemas.openxmlformats.org/officeDocument/2006/relationships/officeDocument" Target="/ppt/presentation.xml" Id="Ra4d9697077384b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d78db783b4ca7"/>
  </p:sldMasterIdLst>
  <p:notesMasterIdLst>
    <p:notesMasterId xmlns:r="http://schemas.openxmlformats.org/officeDocument/2006/relationships" r:id="R1088ee0b87214d31"/>
  </p:notesMasterIdLst>
  <p:sldIdLst>
    <p:sldId xmlns:r="http://schemas.openxmlformats.org/officeDocument/2006/relationships" id="256" r:id="R57146614ab9f42f6"/>
    <p:sldId xmlns:r="http://schemas.openxmlformats.org/officeDocument/2006/relationships" id="257" r:id="Rfd16312ae7934f68"/>
    <p:sldId xmlns:r="http://schemas.openxmlformats.org/officeDocument/2006/relationships" id="258" r:id="R923bdd3f05e84d73"/>
    <p:sldId xmlns:r="http://schemas.openxmlformats.org/officeDocument/2006/relationships" id="259" r:id="R88a7eb86159d445e"/>
    <p:sldId xmlns:r="http://schemas.openxmlformats.org/officeDocument/2006/relationships" id="260" r:id="Raa4c8521bb094cca"/>
    <p:sldId xmlns:r="http://schemas.openxmlformats.org/officeDocument/2006/relationships" id="261" r:id="R458d7811c6e24414"/>
    <p:sldId xmlns:r="http://schemas.openxmlformats.org/officeDocument/2006/relationships" id="262" r:id="Rbf1c61251faf4704"/>
    <p:sldId xmlns:r="http://schemas.openxmlformats.org/officeDocument/2006/relationships" id="263" r:id="R7b53aa42a4314ac5"/>
    <p:sldId xmlns:r="http://schemas.openxmlformats.org/officeDocument/2006/relationships" id="264" r:id="R8cdc987676784ed3"/>
    <p:sldId xmlns:r="http://schemas.openxmlformats.org/officeDocument/2006/relationships" id="265" r:id="Rfc55cabd90a141ca"/>
    <p:sldId xmlns:r="http://schemas.openxmlformats.org/officeDocument/2006/relationships" id="266" r:id="Rab200f28e16047bb"/>
    <p:sldId xmlns:r="http://schemas.openxmlformats.org/officeDocument/2006/relationships" id="267" r:id="R93c83658f09b4c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975e31c1fa459f" /><Relationship Type="http://schemas.openxmlformats.org/officeDocument/2006/relationships/slideMaster" Target="/ppt/slideMasters/slideMaster1.xml" Id="R6fed78db783b4ca7" /><Relationship Type="http://schemas.openxmlformats.org/officeDocument/2006/relationships/notesMaster" Target="/ppt/notesMasters/notesMaster1.xml" Id="R1088ee0b87214d31" /><Relationship Type="http://schemas.openxmlformats.org/officeDocument/2006/relationships/presProps" Target="/ppt/presProps.xml" Id="R0b327aede48d4d02" /><Relationship Type="http://schemas.openxmlformats.org/officeDocument/2006/relationships/tableStyles" Target="/ppt/tableStyles.xml" Id="R6a13043d23174c1f" /><Relationship Type="http://schemas.openxmlformats.org/officeDocument/2006/relationships/slide" Target="/ppt/slides/slide1.xml" Id="R57146614ab9f42f6" /><Relationship Type="http://schemas.openxmlformats.org/officeDocument/2006/relationships/slide" Target="/ppt/slides/slide2.xml" Id="Rfd16312ae7934f68" /><Relationship Type="http://schemas.openxmlformats.org/officeDocument/2006/relationships/slide" Target="/ppt/slides/slide3.xml" Id="R923bdd3f05e84d73" /><Relationship Type="http://schemas.openxmlformats.org/officeDocument/2006/relationships/slide" Target="/ppt/slides/slide4.xml" Id="R88a7eb86159d445e" /><Relationship Type="http://schemas.openxmlformats.org/officeDocument/2006/relationships/slide" Target="/ppt/slides/slide5.xml" Id="Raa4c8521bb094cca" /><Relationship Type="http://schemas.openxmlformats.org/officeDocument/2006/relationships/slide" Target="/ppt/slides/slide6.xml" Id="R458d7811c6e24414" /><Relationship Type="http://schemas.openxmlformats.org/officeDocument/2006/relationships/slide" Target="/ppt/slides/slide7.xml" Id="Rbf1c61251faf4704" /><Relationship Type="http://schemas.openxmlformats.org/officeDocument/2006/relationships/slide" Target="/ppt/slides/slide8.xml" Id="R7b53aa42a4314ac5" /><Relationship Type="http://schemas.openxmlformats.org/officeDocument/2006/relationships/slide" Target="/ppt/slides/slide9.xml" Id="R8cdc987676784ed3" /><Relationship Type="http://schemas.openxmlformats.org/officeDocument/2006/relationships/slide" Target="/ppt/slides/slide10.xml" Id="Rfc55cabd90a141ca" /><Relationship Type="http://schemas.openxmlformats.org/officeDocument/2006/relationships/slide" Target="/ppt/slides/slide11.xml" Id="Rab200f28e16047bb" /><Relationship Type="http://schemas.openxmlformats.org/officeDocument/2006/relationships/slide" Target="/ppt/slides/slide12.xml" Id="R93c83658f09b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4321e2956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3b53e167054385" /><Relationship Type="http://schemas.openxmlformats.org/officeDocument/2006/relationships/notesMaster" Target="/ppt/notesMasters/notesMaster1.xml" Id="R5e7094ad7f7945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0369911ac4d78" /><Relationship Type="http://schemas.openxmlformats.org/officeDocument/2006/relationships/notesMaster" Target="/ppt/notesMasters/notesMaster1.xml" Id="Rc0a78a91a8b74a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a3a4cd10784721" /><Relationship Type="http://schemas.openxmlformats.org/officeDocument/2006/relationships/notesMaster" Target="/ppt/notesMasters/notesMaster1.xml" Id="R8a027f964e92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0a54ab49e34ca3" /><Relationship Type="http://schemas.openxmlformats.org/officeDocument/2006/relationships/notesMaster" Target="/ppt/notesMasters/notesMaster1.xml" Id="R8b38644349b7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0e1a09474441ab" /><Relationship Type="http://schemas.openxmlformats.org/officeDocument/2006/relationships/notesMaster" Target="/ppt/notesMasters/notesMaster1.xml" Id="Ra34d6a0ddab448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ba50e6a305405c" /><Relationship Type="http://schemas.openxmlformats.org/officeDocument/2006/relationships/notesMaster" Target="/ppt/notesMasters/notesMaster1.xml" Id="R973a52b3a28b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a3e67bf5e4adf" /><Relationship Type="http://schemas.openxmlformats.org/officeDocument/2006/relationships/notesMaster" Target="/ppt/notesMasters/notesMaster1.xml" Id="Rbd6dc96a3df64a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f89ba02eb8439a" /><Relationship Type="http://schemas.openxmlformats.org/officeDocument/2006/relationships/notesMaster" Target="/ppt/notesMasters/notesMaster1.xml" Id="R71e267807a7249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0aaffa7f24e1d" /><Relationship Type="http://schemas.openxmlformats.org/officeDocument/2006/relationships/notesMaster" Target="/ppt/notesMasters/notesMaster1.xml" Id="R7ab4c8096e3649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76fec009d54edc" /><Relationship Type="http://schemas.openxmlformats.org/officeDocument/2006/relationships/notesMaster" Target="/ppt/notesMasters/notesMaster1.xml" Id="R0d66ed5cbb714d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cfa50600f944c3" /><Relationship Type="http://schemas.openxmlformats.org/officeDocument/2006/relationships/notesMaster" Target="/ppt/notesMasters/notesMaster1.xml" Id="Rb5d52894d54441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982dfeb98a4b17" /><Relationship Type="http://schemas.openxmlformats.org/officeDocument/2006/relationships/notesMaster" Target="/ppt/notesMasters/notesMaster1.xml" Id="Rf2618883646c42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91cf684254b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6d504225847ee" /><Relationship Type="http://schemas.openxmlformats.org/officeDocument/2006/relationships/slideLayout" Target="/ppt/slideLayouts/slideLayout1.xml" Id="Rb5df06e7940b4d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f06e7940b4d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7d2a76c5f429b" /><Relationship Type="http://schemas.openxmlformats.org/officeDocument/2006/relationships/notesSlide" Target="/ppt/notesSlides/notesSlide1.xml" Id="Rbd94d61f4ab14f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0f161f3734e31" /><Relationship Type="http://schemas.openxmlformats.org/officeDocument/2006/relationships/notesSlide" Target="/ppt/notesSlides/notesSlide2.xml" Id="Ra90b95afdbe8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652edb31f47a1" /><Relationship Type="http://schemas.openxmlformats.org/officeDocument/2006/relationships/notesSlide" Target="/ppt/notesSlides/notesSlide3.xml" Id="Rd6fef3565448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365dde5d74b75" /><Relationship Type="http://schemas.openxmlformats.org/officeDocument/2006/relationships/notesSlide" Target="/ppt/notesSlides/notesSlide4.xml" Id="R87ba54c45153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78f16fad84281" /><Relationship Type="http://schemas.openxmlformats.org/officeDocument/2006/relationships/notesSlide" Target="/ppt/notesSlides/notesSlide5.xml" Id="Rb48fbba1d43f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c59b7d0714641" /><Relationship Type="http://schemas.openxmlformats.org/officeDocument/2006/relationships/image" Target="/ppt/media/image.png" Id="R46c7ed12d1904585" /><Relationship Type="http://schemas.openxmlformats.org/officeDocument/2006/relationships/notesSlide" Target="/ppt/notesSlides/notesSlide6.xml" Id="Rfb9c70353dac45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0360bbced48c4" /><Relationship Type="http://schemas.openxmlformats.org/officeDocument/2006/relationships/notesSlide" Target="/ppt/notesSlides/notesSlide7.xml" Id="Ra3238267069940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2ca7490ff43ce" /><Relationship Type="http://schemas.openxmlformats.org/officeDocument/2006/relationships/image" Target="/ppt/media/image2.png" Id="R16b119c8cb754e09" /><Relationship Type="http://schemas.openxmlformats.org/officeDocument/2006/relationships/notesSlide" Target="/ppt/notesSlides/notesSlide8.xml" Id="Rac5e0ad2be4043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197087028414f" /><Relationship Type="http://schemas.openxmlformats.org/officeDocument/2006/relationships/notesSlide" Target="/ppt/notesSlides/notesSlide9.xml" Id="R17afefcf4c2944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cdb8e6fb047d2" /><Relationship Type="http://schemas.openxmlformats.org/officeDocument/2006/relationships/notesSlide" Target="/ppt/notesSlides/notesSlide10.xml" Id="R0d8024cd938149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48c748fad450c" /><Relationship Type="http://schemas.openxmlformats.org/officeDocument/2006/relationships/image" Target="/ppt/media/image3.png" Id="R4804f8264bff468b" /><Relationship Type="http://schemas.openxmlformats.org/officeDocument/2006/relationships/image" Target="/ppt/media/image4.png" Id="Ra059377ac8174dbe" /><Relationship Type="http://schemas.openxmlformats.org/officeDocument/2006/relationships/notesSlide" Target="/ppt/notesSlides/notesSlide11.xml" Id="R37a9075641f048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ba3340ddc47f1" /><Relationship Type="http://schemas.openxmlformats.org/officeDocument/2006/relationships/notesSlide" Target="/ppt/notesSlides/notesSlide12.xml" Id="R1a314397a16047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A8EA8-A021-4FAE-9910-A1DD446B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Selection via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68EC7-6AC1-4676-A494-D656FA39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Efficient Data Selection for Deep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AEE10-46C0-4B63-B6BD-10251638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Cody Coleman и соавторы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Stanford University, 2020</a:t>
            </a:r>
          </a:p>
        </p:txBody>
      </p:sp>
    </p:spTree>
    <p:extLst>
      <p:ext uri="{BB962C8B-B14F-4D97-AF65-F5344CB8AC3E}">
        <p14:creationId xmlns:p14="http://schemas.microsoft.com/office/powerpoint/2010/main" val="748881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F7336-74E9-4214-A217-D002ECA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Active Learning и Core-set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F1D1B-A02B-478A-94ED-919F7BD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2956C-84EC-4842-A619-16C23A19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Исходные данные: пул без меток и небольшой размеченный набор.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 каждом раунде модель отбирает объекты для разметки. Объём разметки ограничен бюджетом.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520A1-EC1A-46D7-B578-23C14DE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Core-set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B08CE-23D5-49EC-A7F3-482485F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5048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Исходные данные: обучающий набор с известными метками.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обучения target отбирается подмножество. Критерий сравнения: ошибка на тесте.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7A341-710D-4311-BC6E-27072E7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 proxy модель отбора обучается в каждом раунде Active Learning.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core-set она обучается на исходном наборе.</a:t>
            </a:r>
          </a:p>
        </p:txBody>
      </p:sp>
    </p:spTree>
    <p:extLst>
      <p:ext uri="{BB962C8B-B14F-4D97-AF65-F5344CB8AC3E}">
        <p14:creationId xmlns:p14="http://schemas.microsoft.com/office/powerpoint/2010/main" val="362850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D798B-4CB4-44E4-AC21-1B34E783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 с proxy-моделью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EC29B-18BB-4993-AFD6-6C17120B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Размеченный</a:t>
            </a:r>
          </a:p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набор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1B0D0-DBDB-450D-907B-C247C902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Обучение</a:t>
            </a:r>
          </a:p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EAE83-2215-48C6-A494-2A9941B1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Отбор новой</a:t>
            </a:r>
          </a:p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порции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F4383-BEA1-4315-8AEA-7142208A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2400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Получение</a:t>
            </a:r>
          </a:p>
          <a:p xmlns:a="http://schemas.openxmlformats.org/drawingml/2006/main">
            <a:pPr algn="ctr"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меток</a:t>
            </a:r>
          </a:p>
        </p:txBody>
      </p:sp>
      <p:cxnSp>
        <p:nvCxnSpPr>
          <p:cNvPr id="1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914650" y="2381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772150" y="2381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29650" y="2381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AD897-A9D8-4F41-8D9F-7537D7A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 каждом раунде proxy обучается с нуля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 накопленном размеченном наборе.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FD8FE-913C-4831-A7EB-745E6371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После отбора target обучается с нуля.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 всех режимах используется одна архитектура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F49B6-0A87-461E-9314-0D1BF825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Стоимость отбора снижается за счёт архитектуры proxy или числа эпох.</a:t>
            </a:r>
          </a:p>
        </p:txBody>
      </p:sp>
    </p:spTree>
    <p:extLst>
      <p:ext uri="{BB962C8B-B14F-4D97-AF65-F5344CB8AC3E}">
        <p14:creationId xmlns:p14="http://schemas.microsoft.com/office/powerpoint/2010/main" val="1962770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85AD3-EACB-43B1-B920-09CC24B6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Least confidence и Max entropy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DEA84-8A8A-496E-A0D5-467C901F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Least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308E-69D8-4392-8A3D-6681CD98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2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u(x) = 1 - max p(y | x)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1F9A-A1F9-4AE9-A892-0D65392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24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max p = 0,90: u = 0,10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max p = 0,40: u = 0,60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02E1C-C88F-409C-95A2-394F29A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124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 по убыванию u(x).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Достаточно предсказаний модели,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метки кандидатов не используются.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56C04-03CC-4AB5-9B33-E4C4EAF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Max entropy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03AFC-2FB8-4217-BA68-78AD1776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H(x) = -Σ p(y | x) log p(y | 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6516B-4B94-4C98-A550-58E787F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Учитывает всё распределение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вероятностей, а не только максимум.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D4A65-736B-4126-9849-3DBF3527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 по убыванию H(x).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 статье применяется для core-set.</a:t>
            </a:r>
          </a:p>
        </p:txBody>
      </p:sp>
    </p:spTree>
    <p:extLst>
      <p:ext uri="{BB962C8B-B14F-4D97-AF65-F5344CB8AC3E}">
        <p14:creationId xmlns:p14="http://schemas.microsoft.com/office/powerpoint/2010/main" val="1892957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E546C-70C1-4E83-BE3C-703648D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k-centers и Forgetting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6EEAC-AD0E-4774-A5C3-4107DCB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Greedy k-centers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D886C-AA16-43BB-9B99-700F5E67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24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Признаки φ(x) из последнего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скрытого слоя модели.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0EEF6-D865-4B13-876B-DA9AC8B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124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Оценка кандидата: расстояние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 ближайшего объекта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 выбранном подмножестве.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892E9-38E2-4CAF-914E-57269FB0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124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 каждом шаге добавляется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кандидат с максимальной оценкой.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Метод применяется в обеих задачах.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535C7-893C-4EC2-9896-64F2648A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Forgetting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125E-194B-4D92-B41D-3865F884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Число переходов «верно → неверно»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 обучении на исходном наборе.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2008F-1DC9-47B4-94AA-CEAE6C25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 объектов с наибольшим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числом переходов.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5314-237B-4E88-88ED-7E37D92F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95850"/>
            <a:ext cx="504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объектов без верных ответов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счётчик равен бесконечности.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Метод применяется для core-set.</a:t>
            </a:r>
          </a:p>
        </p:txBody>
      </p:sp>
    </p:spTree>
    <p:extLst>
      <p:ext uri="{BB962C8B-B14F-4D97-AF65-F5344CB8AC3E}">
        <p14:creationId xmlns:p14="http://schemas.microsoft.com/office/powerpoint/2010/main" val="1786404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E4E5A-17C6-4085-94B8-92591F43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Корреляция рангов между моделями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7ed12d1904585"/>
          <a:stretch xmlns:a="http://schemas.openxmlformats.org/drawingml/2006/main"/>
        </p:blipFill>
        <p:spPr>
          <a:xfrm xmlns:a="http://schemas.openxmlformats.org/drawingml/2006/main">
            <a:off x="609600" y="1483995"/>
            <a:ext cx="10972800" cy="310896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DB0F8-99D1-45B1-A441-D2305DFD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Числа показывают корреляцию рангов Спирмена.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 диагонали сравниваются разные запуски одной архитектуры.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34F59-DB8C-483D-8680-3598068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forgetting events R20 и R164 дают ρ ≈ 0,90.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entropy и k-centers корреляция ниже.</a:t>
            </a:r>
          </a:p>
        </p:txBody>
      </p:sp>
    </p:spTree>
    <p:extLst>
      <p:ext uri="{BB962C8B-B14F-4D97-AF65-F5344CB8AC3E}">
        <p14:creationId xmlns:p14="http://schemas.microsoft.com/office/powerpoint/2010/main" val="955428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14DF-A05C-4B65-BE45-67728C8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Active Learning в статье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E40FB-56ED-4686-B55B-0C3FE52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98768-01B8-4671-B774-9C520A69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002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Error при 10 000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FB84-E0D2-4E6E-A39B-31151E57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002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Error при 25 000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E800C-D019-4859-A129-B5E28041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F4002-920B-4469-94DB-04ECEF4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12,9 ± 0,37%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EE51-CA09-40EA-919B-773CBDD5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7,5 ± 0,11%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A61B2-1C16-48B7-9DF5-22F7EC5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ResNet-164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3C0F0-623B-4F9D-B1AD-48225945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 ± 0,38%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02931-479F-498C-857C-9635713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480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5,3 ± 0,06%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74D5-C827-4241-A79F-6C240B48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ResNet-20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C7CDA-54EC-4374-93A8-A4E122A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719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10,5 ± 0,42%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55890-40C4-44BA-9B06-D712ACB2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719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5,4 ± 0,41%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CCFC7-1DF0-41F4-8299-6C05335F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Итоговая модель во всех строках: ResNet-164.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Ускорение отбора через ResNet-20: 5,8× при 10 000; 7,2× при 25 000.</a:t>
            </a:r>
          </a:p>
        </p:txBody>
      </p:sp>
    </p:spTree>
    <p:extLst>
      <p:ext uri="{BB962C8B-B14F-4D97-AF65-F5344CB8AC3E}">
        <p14:creationId xmlns:p14="http://schemas.microsoft.com/office/powerpoint/2010/main" val="1530332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F8DF3-16E6-48A5-9E0D-24A8817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Core-set в статье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119c8cb754e09"/>
          <a:stretch xmlns:a="http://schemas.openxmlformats.org/drawingml/2006/main"/>
        </p:blipFill>
        <p:spPr>
          <a:xfrm xmlns:a="http://schemas.openxmlformats.org/drawingml/2006/main">
            <a:off x="609600" y="1645502"/>
            <a:ext cx="6286500" cy="390989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DD80D-7C58-4D92-B787-2F1AA63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85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Forgetting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76340-717A-4005-9987-80B227DA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4324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Чёрная линия: отбор ResNet-164.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Голубая: отбор ResNet-20.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Оранжевая: random.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Пунктир: полный набор.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06E15-F9C9-423C-818A-F9298FC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4324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ResNet-20 сохраняет ошибку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около 5% на половине данных.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Полное время сокращается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примерно в 1,6 раза.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6F170-2DA7-45E9-B389-A9E75E37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 ImageNet удалить значимую долю данных без потери качества не удалось.</a:t>
            </a:r>
          </a:p>
        </p:txBody>
      </p:sp>
    </p:spTree>
    <p:extLst>
      <p:ext uri="{BB962C8B-B14F-4D97-AF65-F5344CB8AC3E}">
        <p14:creationId xmlns:p14="http://schemas.microsoft.com/office/powerpoint/2010/main" val="5399463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30E6E-0AB8-4A6B-B102-8786E13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DBF0B-D891-46FF-B405-AC885A52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C7981-E407-47D5-BD26-BECFB5F3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9C796-5C95-4026-888D-CEFF56A6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8B6F8-DBC4-44E7-91F8-7B0C47D9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CIFAR-10: пул 50 000, test 10 000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F09EA-3B39-4B10-9FB9-F671509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Размеры 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528FD-35DC-4027-906A-973DE1D7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1 000 / 3 000 / 5 000 / 7 500 / 10 000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5A6FA-5975-4003-95FA-0C9099AB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Модели отбора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E6D2F-DCC9-4DFB-97C1-57D47B9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 / ResNet-164 / ResNet-20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67B53-AE4E-4F2E-A8D8-4E92CE9B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Итоговая модель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5901E-B800-42CD-A2FA-FF2266D3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ResNet-164 для всех трёх режимов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6B7EA-1A70-474A-BDA8-5F63244E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1759A-16BE-48B2-9DE1-17CD4F80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0055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 эпох, batch 128, SGD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FB264-07C6-4C42-BCA8-B9953FB9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Повторы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C1040-2146-476C-985A-5B3C9177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91100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seed 0, 1, 2; одинаковый старт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A0F05-868B-4971-A060-D5943DB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LR 0,01 / 0,1 / 0,01 / 0,001 на 1 / 6 / 4 / 4 эпох.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 статье используется 181 эпоха и другая последовательность раундов.</a:t>
            </a:r>
          </a:p>
        </p:txBody>
      </p:sp>
    </p:spTree>
    <p:extLst>
      <p:ext uri="{BB962C8B-B14F-4D97-AF65-F5344CB8AC3E}">
        <p14:creationId xmlns:p14="http://schemas.microsoft.com/office/powerpoint/2010/main" val="1358693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869B4-D63E-4B49-8737-B36C58AF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Метрики и проверка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E7480-CAE9-472C-A66D-6F2CBE1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Качество: test error итоговой ResNet-164, среднее и std по трём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Время отбора: обучение выбирающих моделей и проход по пулу.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Итоговое обучение target измеряется отдельно.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5AF5E-0F2D-4FCA-86A8-59AE2705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Ускорение отбора = время target / время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19CFB-70FE-4E94-9FD9-B69C1387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Индексы только из train, без повторов. Test используется в конце.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Размеры накопленных наборов проверяются после каждого раунда.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 замером времени вызывается CUDA synchronize.</a:t>
            </a:r>
          </a:p>
        </p:txBody>
      </p:sp>
    </p:spTree>
    <p:extLst>
      <p:ext uri="{BB962C8B-B14F-4D97-AF65-F5344CB8AC3E}">
        <p14:creationId xmlns:p14="http://schemas.microsoft.com/office/powerpoint/2010/main" val="2073140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FD92A-62FC-42E1-AF76-E8AFE592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Результаты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5D926-1863-4272-B171-7B40D86D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12F76-7218-4224-8046-24F56AC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4f8264bff468b"/>
          <a:stretch xmlns:a="http://schemas.openxmlformats.org/drawingml/2006/main"/>
        </p:blipFill>
        <p:spPr>
          <a:xfrm xmlns:a="http://schemas.openxmlformats.org/drawingml/2006/main">
            <a:off x="615043" y="1866900"/>
            <a:ext cx="5170714" cy="3619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9377ac8174dbe"/>
          <a:stretch xmlns:a="http://schemas.openxmlformats.org/drawingml/2006/main"/>
        </p:blipFill>
        <p:spPr>
          <a:xfrm xmlns:a="http://schemas.openxmlformats.org/drawingml/2006/main">
            <a:off x="6406243" y="1866900"/>
            <a:ext cx="5170714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AEB8F-9745-4EB0-849D-CC446227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Proxy ускоряет отбор в 4,53 раза.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Его ошибка выше target на 3,69 процентного пункта.</a:t>
            </a:r>
          </a:p>
        </p:txBody>
      </p:sp>
    </p:spTree>
    <p:extLst>
      <p:ext uri="{BB962C8B-B14F-4D97-AF65-F5344CB8AC3E}">
        <p14:creationId xmlns:p14="http://schemas.microsoft.com/office/powerpoint/2010/main" val="1298176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BBDB88-19EF-4322-9858-AFAE726E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Сравнение режимов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B99AF-3CC2-43D3-BB3D-E0F483E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Режим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3ABB0-E008-4AF5-8FB2-22286FAC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621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error, 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D8AC-19C4-4A3B-BC0F-67E5445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6210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Отбор, 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1BF88-F3BC-40C9-859C-40E62D97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621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Обучение, 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64B3B-88DF-4ED0-8040-AE2614F0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F4E5-14F0-4390-8898-2A5DA5C5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35,92 ± 0,91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6C93-D035-4C81-909E-91C52ACC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0,0012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B260A-21BD-498A-8AE7-61C31D0C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9939E-DBA1-4FFF-A697-F1D7E987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17FA7-446F-489A-85D9-6C0338F3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194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42,87 ± 1,64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DDF17-4691-4BFA-AB1A-B3046AEA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1940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231,24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D230A-8162-458D-A85D-557FC71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478DB-B51B-4EF9-BD4B-E353F2FE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0ABD9-FDA7-445B-B6D4-D3C6526C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46,55 ± 4,23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22F27-07E9-41B7-B073-7B6B97C3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51,10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4A27C-3664-4195-9810-A426992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480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46D51-DE4C-4FDB-A23A-4BB1DDF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Минимальная ошибка у random: 35,92%.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 15 эпохах оба метода Active Learning уступили random.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6D935-D25A-4C27-81E1-AF9CEE51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Отбор с proxy быстрее target в 4,53 раза; ошибка выше на 3,69 п. п.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Обучение: 15 эпох вместо 181, последовательность раундов изменена.</a:t>
            </a:r>
          </a:p>
        </p:txBody>
      </p:sp>
    </p:spTree>
    <p:extLst>
      <p:ext uri="{BB962C8B-B14F-4D97-AF65-F5344CB8AC3E}">
        <p14:creationId xmlns:p14="http://schemas.microsoft.com/office/powerpoint/2010/main" val="612382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>2026-10-11T05:09:00.6820000Z</ns2:created>
  <ns2:modified xsi:type="dcterms:W3CDTF">2026-10-11T05:09:00.6820000Z</ns2:modified>
</ns0:coreProperties>
</file>